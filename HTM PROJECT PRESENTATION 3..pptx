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3"/>
    <p:sldId id="258" r:id="rId4"/>
    <p:sldId id="314" r:id="rId5"/>
    <p:sldId id="259" r:id="rId6"/>
    <p:sldId id="260" r:id="rId7"/>
    <p:sldId id="315" r:id="rId8"/>
    <p:sldId id="262" r:id="rId9"/>
    <p:sldId id="264" r:id="rId10"/>
    <p:sldId id="263" r:id="rId11"/>
    <p:sldId id="265" r:id="rId12"/>
    <p:sldId id="266" r:id="rId13"/>
    <p:sldId id="287" r:id="rId14"/>
    <p:sldId id="270" r:id="rId15"/>
    <p:sldId id="271" r:id="rId17"/>
    <p:sldId id="269" r:id="rId18"/>
    <p:sldId id="273" r:id="rId19"/>
    <p:sldId id="274" r:id="rId20"/>
    <p:sldId id="278" r:id="rId21"/>
    <p:sldId id="280" r:id="rId22"/>
    <p:sldId id="300" r:id="rId23"/>
    <p:sldId id="302" r:id="rId24"/>
    <p:sldId id="301" r:id="rId25"/>
    <p:sldId id="281" r:id="rId26"/>
    <p:sldId id="297" r:id="rId27"/>
    <p:sldId id="306" r:id="rId28"/>
    <p:sldId id="307" r:id="rId29"/>
    <p:sldId id="320" r:id="rId30"/>
    <p:sldId id="316" r:id="rId31"/>
    <p:sldId id="321" r:id="rId32"/>
    <p:sldId id="323" r:id="rId33"/>
    <p:sldId id="324" r:id="rId34"/>
    <p:sldId id="32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364" y="40"/>
      </p:cViewPr>
      <p:guideLst>
        <p:guide orient="horz" pos="2160"/>
        <p:guide pos="39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4-06T23:44:44"/>
    </inkml:context>
    <inkml:brush xml:id="br0">
      <inkml:brushProperty name="width" value="0.0352777777777778" units="cm"/>
      <inkml:brushProperty name="height" value="0.0352777777777778" units="cm"/>
      <inkml:brushProperty name="color" value="#f80600"/>
      <inkml:brushProperty name="ignorePressure" value="0"/>
    </inkml:brush>
  </inkml:definitions>
  <inkml:trace contextRef="#ctx0" brushRef="#br0">6248.956 4909.933,'0.000'0.000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4-06T23:44:44"/>
    </inkml:context>
    <inkml:brush xml:id="br0">
      <inkml:brushProperty name="width" value="0.0352777777777778" units="cm"/>
      <inkml:brushProperty name="height" value="0.0352777777777778" units="cm"/>
      <inkml:brushProperty name="color" value="#f80600"/>
      <inkml:brushProperty name="ignorePressure" value="0"/>
    </inkml:brush>
  </inkml:definitions>
  <inkml:trace contextRef="#ctx0" brushRef="#br0">4677.956 2403.933,'0.000'0.000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4-06T23:44:44"/>
    </inkml:context>
    <inkml:brush xml:id="br0">
      <inkml:brushProperty name="width" value="0.08819" units="cm"/>
      <inkml:brushProperty name="height" value="0.35278" units="cm"/>
      <inkml:brushProperty name="color" value="#fff700"/>
      <inkml:brushProperty name="tip" value="rectangle"/>
      <inkml:brushProperty name="rasterOp" value="maskPen"/>
      <inkml:brushProperty name="ignorePressure" value="0"/>
    </inkml:brush>
  </inkml:definitions>
  <inkml:trace contextRef="#ctx0" brushRef="#br0">15873.956-1557.000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3.xml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Alternate Process 1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054860" y="2574925"/>
            <a:ext cx="8082915" cy="6121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</a:rPr>
              <a:t>   </a:t>
            </a:r>
            <a:r>
              <a:rPr sz="3200" b="1" dirty="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</a:rPr>
              <a:t>Hospital  Inventory Management System</a:t>
            </a:r>
            <a:endParaRPr sz="3200" b="1" dirty="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438650" y="-119380"/>
            <a:ext cx="216598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sz="2800" b="1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</a:rPr>
              <a:t>Introduction</a:t>
            </a:r>
            <a:endParaRPr sz="2800" b="1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4455" y="1031875"/>
            <a:ext cx="11706225" cy="32334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endParaRPr lang="en-US" sz="2400" b="0" dirty="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6075" y="1361440"/>
            <a:ext cx="8474075" cy="41357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endParaRPr lang="en-US" sz="2400" dirty="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753735" y="2781935"/>
            <a:ext cx="5080000" cy="29508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endParaRPr sz="2400" dirty="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2389" y="522147"/>
            <a:ext cx="9910354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latin typeface="Bell MT" panose="02020503060305020303" charset="0"/>
                <a:cs typeface="Bell MT" panose="02020503060305020303" charset="0"/>
              </a:rPr>
              <a:t>Inventory</a:t>
            </a:r>
            <a:r>
              <a:rPr lang="en-US" sz="2400" dirty="0">
                <a:latin typeface="Bell MT" panose="02020503060305020303" charset="0"/>
                <a:cs typeface="Bell MT" panose="02020503060305020303" charset="0"/>
              </a:rPr>
              <a:t> is the comprehensive list of all raw materials, components, finished products, or equipment that an organization holds in stock for the purpose of its operations, maintenance, or service delivery.</a:t>
            </a:r>
            <a:endParaRPr lang="en-US" sz="2400" dirty="0"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2389" y="3429000"/>
            <a:ext cx="1028623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latin typeface="Bell MT" panose="02020503060305020303" charset="0"/>
                <a:cs typeface="Bell MT" panose="02020503060305020303" charset="0"/>
              </a:rPr>
              <a:t>Hospital Inventory Management </a:t>
            </a:r>
            <a:r>
              <a:rPr lang="en-US" sz="2400" dirty="0">
                <a:latin typeface="Bell MT" panose="02020503060305020303" charset="0"/>
                <a:cs typeface="Bell MT" panose="02020503060305020303" charset="0"/>
              </a:rPr>
              <a:t>is the process of planning, controlling, and monitoring a hospital’s medical assets to ensure they are used efficiently and safely.</a:t>
            </a:r>
            <a:endParaRPr lang="en-US" sz="2400" dirty="0"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2389" y="2260197"/>
            <a:ext cx="969264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>
                <a:latin typeface="Bell MT" panose="02020503060305020303" charset="0"/>
                <a:cs typeface="Bell MT" panose="02020503060305020303" charset="0"/>
              </a:rPr>
              <a:t>"Inventory is the right material, in the right place, at the right time, in the right condition."</a:t>
            </a:r>
            <a:endParaRPr lang="en-US" sz="2400" dirty="0"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43505" y="4542155"/>
            <a:ext cx="7210425" cy="2655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ell MT" panose="02020503060305020303" charset="0"/>
                <a:cs typeface="Bell MT" panose="02020503060305020303" charset="0"/>
              </a:rPr>
              <a:t>1. Identification (Knowing what you have)</a:t>
            </a:r>
            <a:endParaRPr lang="en-US" sz="2400" dirty="0">
              <a:latin typeface="Bell MT" panose="02020503060305020303" charset="0"/>
              <a:cs typeface="Bell MT" panose="020205030603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ell MT" panose="02020503060305020303" charset="0"/>
                <a:cs typeface="Bell MT" panose="02020503060305020303" charset="0"/>
              </a:rPr>
              <a:t>2. Tracking (Knowing where it is)</a:t>
            </a:r>
            <a:endParaRPr lang="en-US" sz="2400" dirty="0">
              <a:latin typeface="Bell MT" panose="02020503060305020303" charset="0"/>
              <a:cs typeface="Bell MT" panose="020205030603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ell MT" panose="02020503060305020303" charset="0"/>
                <a:cs typeface="Bell MT" panose="02020503060305020303" charset="0"/>
              </a:rPr>
              <a:t>3. Maintenance Management (Knowing the condition)</a:t>
            </a:r>
            <a:endParaRPr lang="en-US" sz="2400" dirty="0">
              <a:latin typeface="Bell MT" panose="02020503060305020303" charset="0"/>
              <a:cs typeface="Bell MT" panose="020205030603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ell MT" panose="02020503060305020303" charset="0"/>
                <a:cs typeface="Bell MT" panose="02020503060305020303" charset="0"/>
              </a:rPr>
              <a:t>4. Optimization (Knowing when to buy more)</a:t>
            </a:r>
            <a:endParaRPr lang="en-US" sz="2400" dirty="0">
              <a:latin typeface="Bell MT" panose="02020503060305020303" charset="0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84455" y="1031875"/>
            <a:ext cx="11706225" cy="32334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sz="2400" b="0" dirty="0">
                <a:latin typeface="Times New Roman" panose="02020603050405020304"/>
                <a:ea typeface="SimSun" panose="02010600030101010101" pitchFamily="2" charset="-122"/>
              </a:rPr>
              <a:t>A Hospital  Inventory Management System is a computerized system used to track, monitor, and manage medical equipment inside a hospital</a:t>
            </a:r>
            <a:r>
              <a:rPr lang="en-US" sz="2400" b="0" dirty="0">
                <a:latin typeface="Times New Roman" panose="02020603050405020304"/>
                <a:ea typeface="SimSun" panose="02010600030101010101" pitchFamily="2" charset="-122"/>
              </a:rPr>
              <a:t>.</a:t>
            </a:r>
            <a:endParaRPr lang="en-US" sz="2400" b="0" dirty="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700530" y="2341880"/>
            <a:ext cx="8474075" cy="41357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sz="2400" b="1" dirty="0">
                <a:latin typeface="Times New Roman" panose="02020603050405020304"/>
                <a:ea typeface="SimSun" panose="02010600030101010101" pitchFamily="2" charset="-122"/>
              </a:rPr>
              <a:t>The system helps hospitals:</a:t>
            </a:r>
            <a:endParaRPr sz="2400" b="1" dirty="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 dirty="0">
                <a:latin typeface="Times New Roman" panose="02020603050405020304"/>
                <a:ea typeface="SimSun" panose="02010600030101010101" pitchFamily="2" charset="-122"/>
              </a:rPr>
              <a:t>Monitor equipment availability</a:t>
            </a:r>
            <a:endParaRPr sz="2400" dirty="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 dirty="0">
                <a:latin typeface="Times New Roman" panose="02020603050405020304"/>
                <a:ea typeface="SimSun" panose="02010600030101010101" pitchFamily="2" charset="-122"/>
              </a:rPr>
              <a:t>Track equipment location</a:t>
            </a:r>
            <a:endParaRPr sz="2400" dirty="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 dirty="0">
                <a:latin typeface="Times New Roman" panose="02020603050405020304"/>
                <a:ea typeface="SimSun" panose="02010600030101010101" pitchFamily="2" charset="-122"/>
              </a:rPr>
              <a:t>Search and filter equipment quickly</a:t>
            </a:r>
            <a:endParaRPr sz="2400" dirty="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 dirty="0">
                <a:latin typeface="Times New Roman" panose="02020603050405020304"/>
                <a:ea typeface="SimSun" panose="02010600030101010101" pitchFamily="2" charset="-122"/>
              </a:rPr>
              <a:t>Avoid equipment loss or shortage</a:t>
            </a:r>
            <a:r>
              <a:rPr lang="en-US" sz="2400" dirty="0">
                <a:latin typeface="Times New Roman" panose="02020603050405020304"/>
                <a:ea typeface="SimSun" panose="02010600030101010101" pitchFamily="2" charset="-122"/>
              </a:rPr>
              <a:t>  </a:t>
            </a:r>
            <a:endParaRPr lang="en-US" sz="2400" dirty="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2430" y="779780"/>
            <a:ext cx="8474710" cy="44069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r>
              <a:rPr sz="2400" b="1">
                <a:latin typeface="Times New Roman" panose="02020603050405020304"/>
                <a:ea typeface="SimSun" panose="02010600030101010101" pitchFamily="2" charset="-122"/>
              </a:rPr>
              <a:t>Objectives</a:t>
            </a:r>
            <a:endParaRPr sz="2400" b="1">
              <a:latin typeface="Times New Roman" panose="02020603050405020304"/>
              <a:ea typeface="SimSun" panose="02010600030101010101" pitchFamily="2" charset="-122"/>
            </a:endParaRPr>
          </a:p>
          <a:p>
            <a:pPr marL="266700" indent="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sz="2400">
                <a:latin typeface="Times New Roman" panose="02020603050405020304"/>
                <a:ea typeface="SimSun" panose="02010600030101010101" pitchFamily="2" charset="-122"/>
              </a:rPr>
              <a:t>The main objectives of the system are:</a:t>
            </a:r>
            <a:endParaRPr sz="240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>
                <a:latin typeface="Times New Roman" panose="02020603050405020304"/>
                <a:ea typeface="SimSun" panose="02010600030101010101" pitchFamily="2" charset="-122"/>
              </a:rPr>
              <a:t>Manage hospital medical equipment digitally</a:t>
            </a:r>
            <a:endParaRPr sz="240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>
                <a:latin typeface="Times New Roman" panose="02020603050405020304"/>
                <a:ea typeface="SimSun" panose="02010600030101010101" pitchFamily="2" charset="-122"/>
              </a:rPr>
              <a:t>Track equipment availability and status</a:t>
            </a:r>
            <a:endParaRPr sz="240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>
                <a:latin typeface="Times New Roman" panose="02020603050405020304"/>
                <a:ea typeface="SimSun" panose="02010600030101010101" pitchFamily="2" charset="-122"/>
              </a:rPr>
              <a:t>Enable quick searching and filtering of equipment</a:t>
            </a:r>
            <a:endParaRPr sz="240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>
                <a:latin typeface="Times New Roman" panose="02020603050405020304"/>
                <a:ea typeface="SimSun" panose="02010600030101010101" pitchFamily="2" charset="-122"/>
              </a:rPr>
              <a:t>Improve hospital resource management</a:t>
            </a:r>
            <a:endParaRPr sz="2400">
              <a:latin typeface="Times New Roman" panose="02020603050405020304"/>
              <a:ea typeface="SimSun" panose="02010600030101010101" pitchFamily="2" charset="-122"/>
            </a:endParaRPr>
          </a:p>
          <a:p>
            <a:pPr marL="533400" indent="-2667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Char char=""/>
              <a:tabLst>
                <a:tab pos="266700" algn="l"/>
              </a:tabLst>
            </a:pPr>
            <a:r>
              <a:rPr sz="2400">
                <a:latin typeface="Times New Roman" panose="02020603050405020304"/>
                <a:ea typeface="SimSun" panose="02010600030101010101" pitchFamily="2" charset="-122"/>
              </a:rPr>
              <a:t>Reduce manual paperwork</a:t>
            </a:r>
            <a:endParaRPr sz="2400"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0540" y="848360"/>
            <a:ext cx="52165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sz="2400" b="1">
                <a:latin typeface="Times New Roman" panose="02020603050405020304"/>
                <a:ea typeface="SimSun" panose="02010600030101010101" pitchFamily="2" charset="-122"/>
              </a:rPr>
              <a:t>System Actors</a:t>
            </a:r>
            <a:endParaRPr sz="2400" b="1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75640" y="1384935"/>
            <a:ext cx="5854700" cy="43053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.System </a:t>
            </a: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Admin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SimSun" panose="02010600030101010101" pitchFamily="2" charset="-122"/>
                <a:ea typeface="SimSun" panose="02010600030101010101" pitchFamily="2" charset="-122"/>
                <a:sym typeface="+mn-ea"/>
              </a:rPr>
              <a:t>2</a:t>
            </a: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. </a:t>
            </a: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Biomedical 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3</a:t>
            </a: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.</a:t>
            </a: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Hospital Staff</a:t>
            </a: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s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  <a:p>
            <a:pPr algn="l" defTabSz="266700">
              <a:spcBef>
                <a:spcPts val="500"/>
              </a:spcBef>
              <a:spcAft>
                <a:spcPts val="500"/>
              </a:spcAft>
            </a:pP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endParaRPr sz="2400" b="1">
              <a:latin typeface="Bell MT" panose="02020503060305020303" charset="0"/>
              <a:ea typeface="等线"/>
              <a:cs typeface="Bell MT" panose="02020503060305020303" charset="0"/>
            </a:endParaRPr>
          </a:p>
          <a:p>
            <a:pPr algn="l" defTabSz="266700">
              <a:spcBef>
                <a:spcPts val="500"/>
              </a:spcBef>
              <a:spcAft>
                <a:spcPts val="500"/>
              </a:spcAft>
            </a:pP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409440" y="1219200"/>
            <a:ext cx="4501515" cy="555307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endParaRPr sz="2400">
              <a:latin typeface="Bell MT" panose="02020503060305020303" charset="0"/>
              <a:ea typeface="等线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617855"/>
            <a:ext cx="528510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sz="24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System Functionalities</a:t>
            </a:r>
            <a:endParaRPr sz="2400" b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0030" y="1003300"/>
            <a:ext cx="8307705" cy="231965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q"/>
            </a:pPr>
            <a:r>
              <a:rPr sz="2400">
                <a:latin typeface="Times New Roman" panose="02020603050405020304"/>
                <a:ea typeface="SimSun" panose="02010600030101010101" pitchFamily="2" charset="-122"/>
              </a:rPr>
              <a:t>The system provides the following major functions.</a:t>
            </a:r>
            <a:endParaRPr sz="240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40030" y="1385570"/>
            <a:ext cx="8679180" cy="40868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1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Add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/Register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Allows the Admin or Inventory Manager to register new medical equipment.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solidFill>
                  <a:srgbClr val="FF0000"/>
                </a:solidFill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Information stored includes:</a:t>
            </a:r>
            <a:endParaRPr sz="2400">
              <a:solidFill>
                <a:srgbClr val="FF0000"/>
              </a:solidFill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Inventory Code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Name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Manufacturer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Model Number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Serial Number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Date Added</a:t>
            </a:r>
            <a:endParaRPr lang="en-US"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等线"/>
                <a:cs typeface="Bell MT" panose="02020503060305020303" charset="0"/>
              </a:rPr>
              <a:t> </a:t>
            </a:r>
            <a:endParaRPr sz="2400">
              <a:latin typeface="Bell MT" panose="02020503060305020303" charset="0"/>
              <a:ea typeface="等线"/>
              <a:cs typeface="Bell MT" panose="0202050306030502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16045" y="3026410"/>
            <a:ext cx="8943340" cy="3327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Country of Origin</a:t>
            </a: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              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Year of Manufacture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Power Requirement (110V / 220V / 380V)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Manual Avialiable</a:t>
            </a:r>
            <a:endParaRPr lang="en-US"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Sparepart Avialiable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Department / Location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Equipment Statu</a:t>
            </a: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s/Condition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endParaRPr lang="en-US"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1069340"/>
            <a:ext cx="7122160" cy="3815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2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Update 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Allows </a:t>
            </a: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Admin</a:t>
            </a: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 </a:t>
            </a: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to modify existing equipment information.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solidFill>
                  <a:srgbClr val="FF0000"/>
                </a:solidFill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Examples:</a:t>
            </a:r>
            <a:endParaRPr sz="2400">
              <a:solidFill>
                <a:srgbClr val="FF0000"/>
              </a:solidFill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Change department location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Update equipment status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Correct serial numbers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Update maintenance information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931025" y="1069340"/>
            <a:ext cx="5080000" cy="37147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3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Delete 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Admin can remove equipment from the system if: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is disposed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is permanently damaged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is transferred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3660" y="845185"/>
            <a:ext cx="4824730" cy="5167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4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Search 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Allows users to quickly locate equipment in the system.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solidFill>
                  <a:srgbClr val="FF0000"/>
                </a:solidFill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Search criteria may include:</a:t>
            </a:r>
            <a:endParaRPr sz="2400">
              <a:solidFill>
                <a:srgbClr val="FF0000"/>
              </a:solidFill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name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Model number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Manufacturer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Serial number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Inventory code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Department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endParaRPr sz="2400">
              <a:latin typeface="Bell MT" panose="02020503060305020303" charset="0"/>
              <a:ea typeface="等线"/>
              <a:cs typeface="Bell MT" panose="0202050306030502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18785" y="926465"/>
            <a:ext cx="6348730" cy="51733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5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Filter 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Filtering helps users view equipment based on certain conditions.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solidFill>
                  <a:srgbClr val="FF0000"/>
                </a:solidFill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Filter options:</a:t>
            </a:r>
            <a:endParaRPr sz="2400">
              <a:solidFill>
                <a:srgbClr val="FF0000"/>
              </a:solidFill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Department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Manufacturer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Status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Power requirement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Spareparts avialiable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lang="en-US"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Manual avialiable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Year of manufacture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617855"/>
            <a:ext cx="8376285" cy="401637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6. Recording Maintenance History</a:t>
            </a:r>
            <a:endParaRPr lang="en-US"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7.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Generate Equipment Reports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The system can generate reports for hospital management.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Types of reports: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Inventory Report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List of all medical equipment in the hospital.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Department Equipment Report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available in each department.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349625" y="19685"/>
            <a:ext cx="492379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800" b="1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System Architecture</a:t>
            </a:r>
            <a:endParaRPr sz="2800" b="1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11270" y="3119755"/>
            <a:ext cx="4755515" cy="34975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Interface pages: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Login page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Dashboard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registration page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list page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Search/filter page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lvl="1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Report generation page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89560" y="782955"/>
            <a:ext cx="4883785" cy="38201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The system follows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three-tier architecture</a:t>
            </a: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1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Presentation Layer (Frontend)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Technologies: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HTML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CSS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JavaScript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895350"/>
            <a:ext cx="7994015" cy="47917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2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Application Layer (Backend)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Handles system processing and business logic.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Possible technologies: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Node.js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0" indent="0" algn="l" defTabSz="266700">
              <a:spcBef>
                <a:spcPts val="500"/>
              </a:spcBef>
              <a:spcAft>
                <a:spcPts val="500"/>
              </a:spcAft>
            </a:pPr>
            <a:r>
              <a:rPr sz="2400">
                <a:solidFill>
                  <a:srgbClr val="FF0000"/>
                </a:solidFill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Functions:</a:t>
            </a:r>
            <a:endParaRPr sz="2400">
              <a:solidFill>
                <a:srgbClr val="FF0000"/>
              </a:solidFill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Authentication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Data validation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Equipment management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8001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ü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Report generation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705600" y="1071880"/>
            <a:ext cx="5080000" cy="3738880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3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Database Layer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Database: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MySQL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  <a:p>
            <a:pPr marL="342900" indent="-342900" algn="l" defTabSz="266700"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q"/>
            </a:pPr>
            <a:r>
              <a:rPr sz="240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Stores all equipment records and system data.</a:t>
            </a:r>
            <a:endParaRPr sz="240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134360" y="95568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2800" b="1">
                <a:latin typeface="Times New Roman" panose="02020603050405020304"/>
                <a:ea typeface="SimSun" panose="02010600030101010101" pitchFamily="2" charset="-122"/>
              </a:rPr>
              <a:t>Use Case Diagram</a:t>
            </a:r>
            <a:endParaRPr sz="2800" b="1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5" name="Flowchart: Terminator 4"/>
          <p:cNvSpPr/>
          <p:nvPr/>
        </p:nvSpPr>
        <p:spPr>
          <a:xfrm>
            <a:off x="4347210" y="743585"/>
            <a:ext cx="3866515" cy="6083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Login</a:t>
            </a:r>
            <a:endParaRPr lang="en-US" sz="28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4" name="Flowchart: Terminator 13"/>
          <p:cNvSpPr/>
          <p:nvPr/>
        </p:nvSpPr>
        <p:spPr>
          <a:xfrm>
            <a:off x="4347210" y="1477645"/>
            <a:ext cx="3866515" cy="6083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Register</a:t>
            </a:r>
            <a:endParaRPr lang="en-US" sz="28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5" name="Flowchart: Terminator 14"/>
          <p:cNvSpPr/>
          <p:nvPr/>
        </p:nvSpPr>
        <p:spPr>
          <a:xfrm>
            <a:off x="4417060" y="3730625"/>
            <a:ext cx="3797300" cy="6083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Update</a:t>
            </a:r>
            <a:endParaRPr lang="en-US" sz="28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6" name="Flowchart: Terminator 15"/>
          <p:cNvSpPr/>
          <p:nvPr/>
        </p:nvSpPr>
        <p:spPr>
          <a:xfrm>
            <a:off x="4347210" y="4567555"/>
            <a:ext cx="3866515" cy="6083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Delete</a:t>
            </a:r>
            <a:endParaRPr lang="en-US" sz="28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7" name="Flowchart: Terminator 16"/>
          <p:cNvSpPr/>
          <p:nvPr/>
        </p:nvSpPr>
        <p:spPr>
          <a:xfrm>
            <a:off x="4347210" y="2237105"/>
            <a:ext cx="3866515" cy="6083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Search</a:t>
            </a:r>
            <a:endParaRPr lang="en-US" sz="28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8" name="Flowchart: Terminator 17"/>
          <p:cNvSpPr/>
          <p:nvPr/>
        </p:nvSpPr>
        <p:spPr>
          <a:xfrm>
            <a:off x="4417060" y="2945765"/>
            <a:ext cx="3796030" cy="6083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Filter</a:t>
            </a:r>
            <a:endParaRPr lang="en-US" sz="28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9" name="Flowchart: Terminator 18"/>
          <p:cNvSpPr/>
          <p:nvPr/>
        </p:nvSpPr>
        <p:spPr>
          <a:xfrm>
            <a:off x="4347210" y="5289550"/>
            <a:ext cx="4246880" cy="65278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Maintenance Record</a:t>
            </a:r>
            <a:endParaRPr lang="en-US" sz="28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20" name="Flowchart: Terminator 19"/>
          <p:cNvSpPr/>
          <p:nvPr/>
        </p:nvSpPr>
        <p:spPr>
          <a:xfrm>
            <a:off x="4347210" y="6065520"/>
            <a:ext cx="3867785" cy="6083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Logout</a:t>
            </a:r>
            <a:endParaRPr lang="en-US" sz="28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345" y="1360805"/>
            <a:ext cx="2093595" cy="725170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0">
            <a:srgbClr val="FFFFFF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Admin</a:t>
            </a:r>
            <a:endParaRPr lang="en-US" sz="20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672955" y="1542415"/>
            <a:ext cx="2073910" cy="791845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0">
            <a:srgbClr val="FFFFFF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Biomedical Staff</a:t>
            </a:r>
            <a:endParaRPr lang="en-US" sz="20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098405" y="5322570"/>
            <a:ext cx="2093595" cy="742950"/>
          </a:xfrm>
          <a:prstGeom prst="ellipse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0">
            <a:srgbClr val="FFFFFF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Bell MT" panose="02020503060305020303" charset="0"/>
                <a:cs typeface="Bell MT" panose="02020503060305020303" charset="0"/>
              </a:rPr>
              <a:t>Hospital Staff</a:t>
            </a:r>
            <a:endParaRPr lang="en-US" sz="2000" b="1">
              <a:solidFill>
                <a:schemeClr val="tx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96" name="Ink 95"/>
              <p14:cNvContentPartPr/>
              <p14:nvPr/>
            </p14:nvContentPartPr>
            <p14:xfrm>
              <a:off x="3968115" y="3117850"/>
              <a:ext cx="635" cy="635"/>
            </p14:xfrm>
          </p:contentPart>
        </mc:Choice>
        <mc:Fallback xmlns="">
          <p:pic>
            <p:nvPicPr>
              <p:cNvPr id="96" name="Ink 95"/>
            </p:nvPicPr>
            <p:blipFill>
              <a:blip r:embed="rId2"/>
            </p:blipFill>
            <p:spPr>
              <a:xfrm>
                <a:off x="3968115" y="311785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2" name="Ink 131"/>
              <p14:cNvContentPartPr/>
              <p14:nvPr/>
            </p14:nvContentPartPr>
            <p14:xfrm>
              <a:off x="2970530" y="1526540"/>
              <a:ext cx="635" cy="635"/>
            </p14:xfrm>
          </p:contentPart>
        </mc:Choice>
        <mc:Fallback xmlns="">
          <p:pic>
            <p:nvPicPr>
              <p:cNvPr id="132" name="Ink 131"/>
            </p:nvPicPr>
            <p:blipFill>
              <a:blip r:embed="rId2"/>
            </p:blipFill>
            <p:spPr>
              <a:xfrm>
                <a:off x="2970530" y="152654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87" name="Ink 186"/>
              <p14:cNvContentPartPr/>
              <p14:nvPr/>
            </p14:nvContentPartPr>
            <p14:xfrm>
              <a:off x="10079990" y="-988695"/>
              <a:ext cx="635" cy="635"/>
            </p14:xfrm>
          </p:contentPart>
        </mc:Choice>
        <mc:Fallback xmlns="">
          <p:pic>
            <p:nvPicPr>
              <p:cNvPr id="187" name="Ink 186"/>
            </p:nvPicPr>
            <p:blipFill>
              <a:blip r:embed="rId5"/>
            </p:blipFill>
            <p:spPr>
              <a:xfrm>
                <a:off x="10079990" y="-988695"/>
                <a:ext cx="635" cy="635"/>
              </a:xfrm>
              <a:prstGeom prst="rect"/>
            </p:spPr>
          </p:pic>
        </mc:Fallback>
      </mc:AlternateContent>
      <p:sp>
        <p:nvSpPr>
          <p:cNvPr id="6" name="Text Box 5"/>
          <p:cNvSpPr txBox="1"/>
          <p:nvPr/>
        </p:nvSpPr>
        <p:spPr>
          <a:xfrm>
            <a:off x="7162165" y="3249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cxnSp>
        <p:nvCxnSpPr>
          <p:cNvPr id="7" name="Curved Connector 6"/>
          <p:cNvCxnSpPr>
            <a:stCxn id="21" idx="7"/>
            <a:endCxn id="5" idx="1"/>
          </p:cNvCxnSpPr>
          <p:nvPr/>
        </p:nvCxnSpPr>
        <p:spPr>
          <a:xfrm rot="16200000">
            <a:off x="2903855" y="24130"/>
            <a:ext cx="419100" cy="2466975"/>
          </a:xfrm>
          <a:prstGeom prst="curvedConnector2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stCxn id="21" idx="6"/>
            <a:endCxn id="14" idx="1"/>
          </p:cNvCxnSpPr>
          <p:nvPr/>
        </p:nvCxnSpPr>
        <p:spPr>
          <a:xfrm>
            <a:off x="2186940" y="1723390"/>
            <a:ext cx="2160270" cy="58420"/>
          </a:xfrm>
          <a:prstGeom prst="curvedConnector3">
            <a:avLst>
              <a:gd name="adj1" fmla="val 50000"/>
            </a:avLst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21" idx="5"/>
            <a:endCxn id="17" idx="1"/>
          </p:cNvCxnSpPr>
          <p:nvPr/>
        </p:nvCxnSpPr>
        <p:spPr>
          <a:xfrm rot="5400000" flipV="1">
            <a:off x="2832735" y="1026795"/>
            <a:ext cx="561340" cy="2466975"/>
          </a:xfrm>
          <a:prstGeom prst="curvedConnector2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21" idx="4"/>
            <a:endCxn id="18" idx="1"/>
          </p:cNvCxnSpPr>
          <p:nvPr/>
        </p:nvCxnSpPr>
        <p:spPr>
          <a:xfrm rot="5400000" flipV="1">
            <a:off x="2197100" y="1029335"/>
            <a:ext cx="1163955" cy="3276600"/>
          </a:xfrm>
          <a:prstGeom prst="curvedConnector2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21" idx="3"/>
            <a:endCxn id="15" idx="1"/>
          </p:cNvCxnSpPr>
          <p:nvPr/>
        </p:nvCxnSpPr>
        <p:spPr>
          <a:xfrm rot="5400000" flipV="1">
            <a:off x="1381125" y="998855"/>
            <a:ext cx="2054860" cy="4017010"/>
          </a:xfrm>
          <a:prstGeom prst="curvedConnector2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2147483647" y="-2147483648"/>
            <a:ext cx="0" cy="0"/>
          </a:xfrm>
          <a:custGeom>
            <a:avLst/>
            <a:gdLst>
              <a:gd name="connisteX0" fmla="*/ -865768378315 w 0"/>
              <a:gd name="connsiteY0" fmla="*/ 1102312453740 h 0"/>
            </a:gdLst>
            <a:ahLst/>
            <a:cxnLst>
              <a:cxn ang="0">
                <a:pos x="connisteX0" y="connsiteY0"/>
              </a:cxn>
            </a:cxnLst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3" name="Curved Connector 12"/>
          <p:cNvCxnSpPr>
            <a:endCxn id="16" idx="1"/>
          </p:cNvCxnSpPr>
          <p:nvPr/>
        </p:nvCxnSpPr>
        <p:spPr>
          <a:xfrm rot="5400000" flipV="1">
            <a:off x="1677035" y="2200910"/>
            <a:ext cx="2882265" cy="2458720"/>
          </a:xfrm>
          <a:prstGeom prst="curvedConnector2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Curved Connector 23"/>
          <p:cNvCxnSpPr/>
          <p:nvPr/>
        </p:nvCxnSpPr>
        <p:spPr>
          <a:xfrm rot="5400000" flipV="1">
            <a:off x="960755" y="2229485"/>
            <a:ext cx="3525520" cy="3246755"/>
          </a:xfrm>
          <a:prstGeom prst="curvedConnector3">
            <a:avLst>
              <a:gd name="adj1" fmla="val 97865"/>
            </a:avLst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endCxn id="20" idx="1"/>
          </p:cNvCxnSpPr>
          <p:nvPr/>
        </p:nvCxnSpPr>
        <p:spPr>
          <a:xfrm rot="5400000" flipV="1">
            <a:off x="271145" y="2293620"/>
            <a:ext cx="4359910" cy="3792220"/>
          </a:xfrm>
          <a:prstGeom prst="curvedConnector2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Curved Connector 25"/>
          <p:cNvCxnSpPr/>
          <p:nvPr/>
        </p:nvCxnSpPr>
        <p:spPr>
          <a:xfrm rot="10800000">
            <a:off x="8089900" y="920115"/>
            <a:ext cx="1871980" cy="724535"/>
          </a:xfrm>
          <a:prstGeom prst="curvedConnector3">
            <a:avLst>
              <a:gd name="adj1" fmla="val 14891"/>
            </a:avLst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22" idx="2"/>
            <a:endCxn id="17" idx="3"/>
          </p:cNvCxnSpPr>
          <p:nvPr/>
        </p:nvCxnSpPr>
        <p:spPr>
          <a:xfrm rot="10800000" flipV="1">
            <a:off x="8213725" y="1938020"/>
            <a:ext cx="1459230" cy="602615"/>
          </a:xfrm>
          <a:prstGeom prst="curvedConnector3">
            <a:avLst>
              <a:gd name="adj1" fmla="val 79765"/>
            </a:avLst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Curved Connector 27"/>
          <p:cNvCxnSpPr/>
          <p:nvPr/>
        </p:nvCxnSpPr>
        <p:spPr>
          <a:xfrm rot="10800000" flipV="1">
            <a:off x="8210550" y="2082800"/>
            <a:ext cx="1520190" cy="1189355"/>
          </a:xfrm>
          <a:prstGeom prst="curvedConnector3">
            <a:avLst>
              <a:gd name="adj1" fmla="val 56808"/>
            </a:avLst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Curved Connector 28"/>
          <p:cNvCxnSpPr/>
          <p:nvPr/>
        </p:nvCxnSpPr>
        <p:spPr>
          <a:xfrm rot="5400000">
            <a:off x="7571740" y="3225165"/>
            <a:ext cx="3397885" cy="1382395"/>
          </a:xfrm>
          <a:prstGeom prst="curvedConnector2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stCxn id="22" idx="4"/>
            <a:endCxn id="20" idx="3"/>
          </p:cNvCxnSpPr>
          <p:nvPr/>
        </p:nvCxnSpPr>
        <p:spPr>
          <a:xfrm rot="5400000">
            <a:off x="7444740" y="3103880"/>
            <a:ext cx="4035425" cy="2494915"/>
          </a:xfrm>
          <a:prstGeom prst="curvedConnector2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23" idx="2"/>
            <a:endCxn id="5" idx="3"/>
          </p:cNvCxnSpPr>
          <p:nvPr/>
        </p:nvCxnSpPr>
        <p:spPr>
          <a:xfrm rot="10800000">
            <a:off x="8213725" y="1047115"/>
            <a:ext cx="1884680" cy="4646295"/>
          </a:xfrm>
          <a:prstGeom prst="curvedConnector3">
            <a:avLst>
              <a:gd name="adj1" fmla="val 50000"/>
            </a:avLst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23" idx="1"/>
            <a:endCxn id="17" idx="3"/>
          </p:cNvCxnSpPr>
          <p:nvPr/>
        </p:nvCxnSpPr>
        <p:spPr>
          <a:xfrm rot="16200000" flipV="1">
            <a:off x="7863840" y="2890520"/>
            <a:ext cx="2889885" cy="2191385"/>
          </a:xfrm>
          <a:prstGeom prst="curvedConnector2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23" idx="0"/>
          </p:cNvCxnSpPr>
          <p:nvPr/>
        </p:nvCxnSpPr>
        <p:spPr>
          <a:xfrm rot="16200000" flipV="1">
            <a:off x="8661400" y="2839085"/>
            <a:ext cx="2084705" cy="2882265"/>
          </a:xfrm>
          <a:prstGeom prst="curvedConnector2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23" idx="3"/>
          </p:cNvCxnSpPr>
          <p:nvPr/>
        </p:nvCxnSpPr>
        <p:spPr>
          <a:xfrm rot="5400000">
            <a:off x="9061450" y="5071745"/>
            <a:ext cx="458470" cy="2228215"/>
          </a:xfrm>
          <a:prstGeom prst="curvedConnector2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42310" y="95568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sz="2800" b="1" dirty="0">
                <a:latin typeface="Times New Roman" panose="02020603050405020304"/>
                <a:ea typeface="SimSun" panose="02010600030101010101" pitchFamily="2" charset="-122"/>
              </a:rPr>
              <a:t>       </a:t>
            </a:r>
            <a:r>
              <a:rPr sz="2800" b="1" dirty="0">
                <a:latin typeface="Times New Roman" panose="02020603050405020304"/>
                <a:ea typeface="SimSun" panose="02010600030101010101" pitchFamily="2" charset="-122"/>
              </a:rPr>
              <a:t>Use Case Scenario</a:t>
            </a:r>
            <a:endParaRPr sz="2800" b="1" dirty="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617855"/>
            <a:ext cx="2465070" cy="5105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1</a:t>
            </a:r>
            <a:r>
              <a:rPr lang="en-US"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Login</a:t>
            </a:r>
            <a:endParaRPr sz="24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75565" y="1021715"/>
          <a:ext cx="11987530" cy="5556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3765"/>
                <a:gridCol w="5993765"/>
              </a:tblGrid>
              <a:tr h="563880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Attribute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Details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6451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 Case Name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Login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6451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Actor(s)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Admin / Biomedical Engineer / Hospital Staff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6388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Description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Allows a user to access the system using valid credentials.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6451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Preconditions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User has a registered account in the system.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150622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Main Flow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User opens the login page. </a:t>
                      </a:r>
                      <a:b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User enters 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Admin name 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and password. </a:t>
                      </a:r>
                      <a:b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3. User clicks “Login”. </a:t>
                      </a:r>
                      <a:b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4. System validates credentials against the database. </a:t>
                      </a:r>
                      <a:b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5. User is redirected to the dashboard based on role.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1468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Alternate Flow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Invalid credentials → System shows 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invalid information 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and asks user to retry.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1468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Postconditions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User is authenticated and granted access to permitted functionalities.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35" y="541655"/>
            <a:ext cx="5241290" cy="60896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2</a:t>
            </a:r>
            <a:r>
              <a:rPr lang="en-US"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Add</a:t>
            </a:r>
            <a:r>
              <a:rPr lang="en-US"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/Register</a:t>
            </a:r>
            <a:r>
              <a:rPr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 Equipment</a:t>
            </a:r>
            <a:endParaRPr sz="24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42875" y="949960"/>
          <a:ext cx="11906250" cy="567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4880"/>
                <a:gridCol w="5881370"/>
              </a:tblGrid>
              <a:tr h="472440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Attribute</a:t>
                      </a:r>
                      <a:endParaRPr sz="16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Details</a:t>
                      </a:r>
                      <a:endParaRPr sz="16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47307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 Case Name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Add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/Register 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Equipment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47244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Actor(s)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Admin / Inventory Manager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47307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Description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Register a new piece of medical equipment in the inventory.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47180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Preconditions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Admin is logged in.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209042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Main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Open “Add Equipment” page.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Fill out equipment details (name, inventory code, manufacturer, model, serial number, department, status).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3. Submit the form.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4. System validates input.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5. System saves data to MySQL database.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6. Confirmation message displayed.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1150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Alternate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Inventory code already exists → System shows error.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Required fields empty → System prompts for completion.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1214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Postconditions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New equipment is saved in the database and visible in the inventory list.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61753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3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Update 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62560" y="1078230"/>
          <a:ext cx="11808460" cy="5662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230"/>
                <a:gridCol w="5904230"/>
              </a:tblGrid>
              <a:tr h="564515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Attribute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Details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3149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 Case Name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Update Equipment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2959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Actor(s)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Admin /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Inventory Manager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3086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Description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Modify existing equipment details in the inventory.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3086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Preconditions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User is logged in and selects an existing equipment record.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182372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Main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Select equipment from inventory list.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Open “Update Equipment” form.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3. Edit fields (status, department, model, manufacturer).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4. Submit the form.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5. System updates database.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6. Confirmation message displayed.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2103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Alternate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Invalid input → System shows error and prompts for correction.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3086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Postconditions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Equipment information updated in the database.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541655"/>
            <a:ext cx="5080000" cy="59245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4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 Delete 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61290" y="1031240"/>
          <a:ext cx="11903710" cy="566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1855"/>
                <a:gridCol w="5951855"/>
              </a:tblGrid>
              <a:tr h="586740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Attribute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Details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8737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 Case Name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Delete Equipment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8737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Actor(s)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Admin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8864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Description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Remove obsolete or damaged equipment from the inventory.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8610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Preconditions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Admin is logged in and selects an equipment record.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155448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Main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Select equipment.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Click “Delete”.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3. System asks for confirmation.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4. Confirm deletion.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5. System removes record from database.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8737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Alternate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User cancels deletion → No changes are made.</a:t>
                      </a:r>
                      <a:endParaRPr lang="en-US"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System alerts permanently delete information 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8674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Postconditions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Equipment record is deleted from the database.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74199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5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 Search 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62560" y="1202690"/>
          <a:ext cx="11865610" cy="549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2805"/>
                <a:gridCol w="5932805"/>
              </a:tblGrid>
              <a:tr h="599440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Attribute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Details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9944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 Case Name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Search Equipment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9880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Actor(s)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All Users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4198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Description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View availability of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 equipment using keywords such as name, inventory code, or model.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9880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Preconditions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User is logged in.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126111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Main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Enter keyword in search field.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Click “Search”.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3. System queries database.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4. Displays matching results.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9944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Alternate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No matching records → System shows “No results found”.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9944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Postconditions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Matching equipment records are displayed to the user.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65690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6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Filter Equipment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61925" y="1156335"/>
          <a:ext cx="11708130" cy="5596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4065"/>
                <a:gridCol w="5854065"/>
              </a:tblGrid>
              <a:tr h="661670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Attribute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Details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6230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 Case Name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Filter Equipment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6167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Actor(s)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All Users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6167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Description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Display equipment based on filter criteria such as status or department.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6103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Preconditions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User is logged in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 and equipment is registered and categorized 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96583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Main Flow</a:t>
                      </a:r>
                      <a:endParaRPr sz="1800" b="1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Select filter criteria (status, department).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System queries database. </a:t>
                      </a:r>
                      <a:b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3. Display filtered results.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6103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Alternate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No records match → System shows “No results found”.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6167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Postconditions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Filtered list of equipment is displayed.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618470" y="-27305"/>
            <a:ext cx="1249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0" algn="just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/>
              <a:buNone/>
              <a:tabLst>
                <a:tab pos="266700" algn="l"/>
              </a:tabLst>
            </a:pPr>
            <a:r>
              <a:rPr lang="en-US" sz="2400">
                <a:solidFill>
                  <a:srgbClr val="FF0000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Cont...</a:t>
            </a:r>
            <a:endParaRPr lang="en-US" sz="2400">
              <a:solidFill>
                <a:srgbClr val="FF0000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925" y="626745"/>
            <a:ext cx="3188335" cy="5403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266700"/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7 </a:t>
            </a:r>
            <a:r>
              <a:rPr lang="en-US"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. </a:t>
            </a:r>
            <a:r>
              <a:rPr sz="2400" b="1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</a:rPr>
              <a:t>Generate Report</a:t>
            </a:r>
            <a:endParaRPr sz="2400" b="1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61290" y="1070610"/>
          <a:ext cx="11833860" cy="5632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930"/>
                <a:gridCol w="5916930"/>
              </a:tblGrid>
              <a:tr h="490855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Attribute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Details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4706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 Case Name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Generate Report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4706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Actor(s)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Admin / Biomedical Engineer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/staff’s 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4770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Description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Generate report summarizing equipment by status or department.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58102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Preconditions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User is logged in.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124333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Main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1. 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Select reporter’s responsibility </a:t>
                      </a:r>
                      <a:endParaRPr lang="en-US"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2. 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Select report type. </a:t>
                      </a:r>
                      <a:b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3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. System queries database.</a:t>
                      </a:r>
                      <a:endParaRPr lang="en-US"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4. System displays report form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 </a:t>
                      </a:r>
                      <a:b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5. Users fill form</a:t>
                      </a:r>
                      <a:b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</a:b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6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. 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System </a:t>
                      </a: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Displays report in table</a:t>
                      </a:r>
                      <a:r>
                        <a:rPr lang="en-US"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 and confirm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64643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Alternate Flow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No equipment in inventory → Report shows empty table.</a:t>
                      </a:r>
                      <a:endParaRPr sz="180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  <a:tr h="30734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Postconditions</a:t>
                      </a:r>
                      <a:endParaRPr sz="1800" b="1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dirty="0">
                          <a:latin typeface="Bell MT" panose="02020503060305020303" charset="0"/>
                          <a:ea typeface="SimSun" panose="02010600030101010101" pitchFamily="2" charset="-122"/>
                          <a:cs typeface="Bell MT" panose="02020503060305020303" charset="0"/>
                        </a:rPr>
                        <a:t>Report is generated and ready for printing or review.</a:t>
                      </a:r>
                      <a:endParaRPr sz="1800" dirty="0">
                        <a:latin typeface="Bell MT" panose="02020503060305020303" charset="0"/>
                        <a:ea typeface="SimSun" panose="02010600030101010101" pitchFamily="2" charset="-122"/>
                        <a:cs typeface="Bell MT" panose="02020503060305020303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556000" y="19368"/>
            <a:ext cx="831215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Sequence Diagrams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                 </a:t>
            </a:r>
            <a:endParaRPr sz="28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252" y="778323"/>
            <a:ext cx="8785648" cy="573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556000" y="19368"/>
            <a:ext cx="817444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Sequence Diagrams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8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…</a:t>
            </a:r>
            <a:endParaRPr sz="28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8285" y="617855"/>
            <a:ext cx="2465070" cy="5575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endParaRPr sz="24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96" y="694055"/>
            <a:ext cx="10445828" cy="606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556000" y="19368"/>
            <a:ext cx="793931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Sequence Diagrams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            </a:t>
            </a:r>
            <a:r>
              <a:rPr lang="en-US" sz="28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…</a:t>
            </a:r>
            <a:endParaRPr sz="28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-2405005" y="-121852"/>
            <a:ext cx="5118360" cy="129723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endParaRPr sz="24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593" y="713650"/>
            <a:ext cx="10145115" cy="571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555999" y="19368"/>
            <a:ext cx="73558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Sequence Diagrams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      </a:t>
            </a:r>
            <a:r>
              <a:rPr lang="en-US" sz="28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…</a:t>
            </a:r>
            <a:endParaRPr sz="28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8285" y="617855"/>
            <a:ext cx="2465070" cy="5575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</a:pPr>
            <a:endParaRPr sz="24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955" y="637223"/>
            <a:ext cx="9718766" cy="622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555999" y="19368"/>
            <a:ext cx="68594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Sequence Diagrams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en-US" sz="28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…</a:t>
            </a:r>
            <a:endParaRPr sz="28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" y="744809"/>
            <a:ext cx="9570720" cy="609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555999" y="19368"/>
            <a:ext cx="68594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Sequence Diagrams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en-US" sz="28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…</a:t>
            </a:r>
            <a:endParaRPr sz="28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35" y="757646"/>
            <a:ext cx="10229568" cy="607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435985" y="-1270"/>
            <a:ext cx="843216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Sequence Diagrams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                  </a:t>
            </a:r>
            <a:r>
              <a:rPr lang="en-US" sz="28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…</a:t>
            </a:r>
            <a:endParaRPr sz="28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915" y="686560"/>
            <a:ext cx="8725988" cy="608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858895" y="1968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/>
                <a:ea typeface="SimSun" panose="02010600030101010101" pitchFamily="2" charset="-122"/>
                <a:sym typeface="+mn-ea"/>
              </a:rPr>
              <a:t>ER Diagram</a:t>
            </a:r>
            <a:endParaRPr lang="en-US" sz="2800" b="1" dirty="0">
              <a:solidFill>
                <a:schemeClr val="tx1"/>
              </a:solidFill>
              <a:latin typeface="Times New Roman" panose="02020603050405020304"/>
              <a:ea typeface="SimSun" panose="02010600030101010101" pitchFamily="2" charset="-122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20161" t="14546" r="15917" b="8750"/>
          <a:stretch>
            <a:fillRect/>
          </a:stretch>
        </p:blipFill>
        <p:spPr>
          <a:xfrm>
            <a:off x="1520825" y="617855"/>
            <a:ext cx="9092565" cy="61372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1297" t="18269" r="12401" b="6583"/>
          <a:stretch>
            <a:fillRect/>
          </a:stretch>
        </p:blipFill>
        <p:spPr>
          <a:xfrm>
            <a:off x="666115" y="674370"/>
            <a:ext cx="10979150" cy="60826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695065" y="2476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 </a:t>
            </a:r>
            <a:r>
              <a:rPr sz="28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Login</a:t>
            </a:r>
            <a:r>
              <a:rPr lang="en-US" sz="28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 Page</a:t>
            </a:r>
            <a:endParaRPr lang="en-US" sz="28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2974" t="12861" r="3688" b="6287"/>
          <a:stretch>
            <a:fillRect/>
          </a:stretch>
        </p:blipFill>
        <p:spPr>
          <a:xfrm>
            <a:off x="163830" y="654050"/>
            <a:ext cx="11847195" cy="577278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119880" y="95885"/>
            <a:ext cx="26682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sz="28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 Dashboard</a:t>
            </a:r>
            <a:endParaRPr lang="en-US" sz="28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20901" t="18713" r="22109" b="14481"/>
          <a:stretch>
            <a:fillRect/>
          </a:stretch>
        </p:blipFill>
        <p:spPr>
          <a:xfrm>
            <a:off x="1233170" y="625475"/>
            <a:ext cx="9726295" cy="62325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315845" y="19685"/>
            <a:ext cx="79629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sz="28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 Sample</a:t>
            </a:r>
            <a:r>
              <a:rPr lang="en-US"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 </a:t>
            </a:r>
            <a:r>
              <a:rPr lang="en-US" sz="28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Equipment Registration Form </a:t>
            </a:r>
            <a:endParaRPr lang="en-US" sz="28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20740" t="21343" r="21531" b="14037"/>
          <a:stretch>
            <a:fillRect/>
          </a:stretch>
        </p:blipFill>
        <p:spPr>
          <a:xfrm>
            <a:off x="1532890" y="704850"/>
            <a:ext cx="8869045" cy="597344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0547350" y="157480"/>
            <a:ext cx="1320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sz="2400" b="1" dirty="0">
                <a:latin typeface="Bell MT" panose="02020503060305020303" charset="0"/>
                <a:ea typeface="SimSun" panose="02010600030101010101" pitchFamily="2" charset="-122"/>
                <a:cs typeface="Bell MT" panose="02020503060305020303" charset="0"/>
                <a:sym typeface="+mn-ea"/>
              </a:rPr>
              <a:t> Cont...</a:t>
            </a:r>
            <a:endParaRPr lang="en-US" sz="2400" b="1" dirty="0">
              <a:latin typeface="Bell MT" panose="02020503060305020303" charset="0"/>
              <a:ea typeface="SimSun" panose="02010600030101010101" pitchFamily="2" charset="-122"/>
              <a:cs typeface="Bell MT" panose="02020503060305020303" charset="0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61925" y="541655"/>
            <a:ext cx="11706225" cy="7620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74520" y="2921000"/>
            <a:ext cx="684276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</a:t>
            </a:r>
            <a:r>
              <a:rPr lang="en-US" sz="6000" dirty="0">
                <a:latin typeface="Algerian" panose="04020705040A02060702" pitchFamily="82" charset="0"/>
              </a:rPr>
              <a:t>THANK YOU!!!</a:t>
            </a:r>
            <a:endParaRPr lang="en-US" sz="60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43*437"/>
  <p:tag name="TABLE_ENDDRAG_RECT" val="5*80*943*437"/>
</p:tagLst>
</file>

<file path=ppt/tags/tag2.xml><?xml version="1.0" encoding="utf-8"?>
<p:tagLst xmlns:p="http://schemas.openxmlformats.org/presentationml/2006/main">
  <p:tag name="TABLE_ENDDRAG_ORIGIN_RECT" val="937*447"/>
  <p:tag name="TABLE_ENDDRAG_RECT" val="12*81*937*447"/>
</p:tagLst>
</file>

<file path=ppt/tags/tag3.xml><?xml version="1.0" encoding="utf-8"?>
<p:tagLst xmlns:p="http://schemas.openxmlformats.org/presentationml/2006/main">
  <p:tag name="TABLE_ENDDRAG_ORIGIN_RECT" val="929*445"/>
  <p:tag name="TABLE_ENDDRAG_RECT" val="12*84*929*445"/>
</p:tagLst>
</file>

<file path=ppt/tags/tag4.xml><?xml version="1.0" encoding="utf-8"?>
<p:tagLst xmlns:p="http://schemas.openxmlformats.org/presentationml/2006/main">
  <p:tag name="TABLE_ENDDRAG_ORIGIN_RECT" val="937*446"/>
  <p:tag name="TABLE_ENDDRAG_RECT" val="12*80*937*446"/>
</p:tagLst>
</file>

<file path=ppt/tags/tag5.xml><?xml version="1.0" encoding="utf-8"?>
<p:tagLst xmlns:p="http://schemas.openxmlformats.org/presentationml/2006/main">
  <p:tag name="TABLE_ENDDRAG_ORIGIN_RECT" val="934*432"/>
  <p:tag name="TABLE_ENDDRAG_RECT" val="12*94*934*432"/>
</p:tagLst>
</file>

<file path=ppt/tags/tag6.xml><?xml version="1.0" encoding="utf-8"?>
<p:tagLst xmlns:p="http://schemas.openxmlformats.org/presentationml/2006/main">
  <p:tag name="TABLE_ENDDRAG_ORIGIN_RECT" val="921*440"/>
  <p:tag name="TABLE_ENDDRAG_RECT" val="12*91*921*440"/>
</p:tagLst>
</file>

<file path=ppt/tags/tag7.xml><?xml version="1.0" encoding="utf-8"?>
<p:tagLst xmlns:p="http://schemas.openxmlformats.org/presentationml/2006/main">
  <p:tag name="TABLE_ENDDRAG_ORIGIN_RECT" val="931*442"/>
  <p:tag name="TABLE_ENDDRAG_RECT" val="12*84*931*4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7858</Words>
  <Application>WPS Presentation</Application>
  <PresentationFormat>Widescreen</PresentationFormat>
  <Paragraphs>468</Paragraphs>
  <Slides>32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Arial</vt:lpstr>
      <vt:lpstr>SimSun</vt:lpstr>
      <vt:lpstr>Wingdings</vt:lpstr>
      <vt:lpstr>Algerian</vt:lpstr>
      <vt:lpstr>TimesNewRomanPS-BoldMT</vt:lpstr>
      <vt:lpstr>Segoe Print</vt:lpstr>
      <vt:lpstr>Bell MT</vt:lpstr>
      <vt:lpstr>Bahnschrift SemiBold</vt:lpstr>
      <vt:lpstr>Times New Roman</vt:lpstr>
      <vt:lpstr>Wingdings</vt:lpstr>
      <vt:lpstr>Bell MT</vt:lpstr>
      <vt:lpstr>Wingdings</vt:lpstr>
      <vt:lpstr>等线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FIKO HD</dc:creator>
  <cp:lastModifiedBy>USER</cp:lastModifiedBy>
  <cp:revision>35</cp:revision>
  <dcterms:created xsi:type="dcterms:W3CDTF">2025-07-23T00:59:00Z</dcterms:created>
  <dcterms:modified xsi:type="dcterms:W3CDTF">2026-05-08T05:50:16Z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04769E61C9824AF983D000E541C74E52_13</vt:lpwstr>
  </property>
  <property fmtid="{D5CDD505-2E9C-101B-9397-08002B2CF9AE}" pid="3" name="KSOProductBuildVer">
    <vt:lpwstr>1033-12.2.0.23196</vt:lpwstr>
  </property>
</Properties>
</file>